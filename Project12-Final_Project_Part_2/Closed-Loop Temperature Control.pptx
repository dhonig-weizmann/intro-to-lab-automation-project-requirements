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73" r:id="rId6"/>
    <p:sldId id="257" r:id="rId7"/>
    <p:sldId id="258" r:id="rId8"/>
    <p:sldId id="259" r:id="rId9"/>
    <p:sldId id="260" r:id="rId10"/>
    <p:sldId id="272" r:id="rId11"/>
    <p:sldId id="271" r:id="rId12"/>
    <p:sldId id="262" r:id="rId13"/>
    <p:sldId id="264" r:id="rId14"/>
    <p:sldId id="261" r:id="rId15"/>
    <p:sldId id="263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6434" autoAdjust="0"/>
  </p:normalViewPr>
  <p:slideViewPr>
    <p:cSldViewPr snapToGrid="0">
      <p:cViewPr varScale="1">
        <p:scale>
          <a:sx n="92" d="100"/>
          <a:sy n="92" d="100"/>
        </p:scale>
        <p:origin x="103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hardware do we need?</a:t>
            </a:r>
          </a:p>
          <a:p>
            <a:r>
              <a:rPr lang="en-US" dirty="0"/>
              <a:t>What software?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FB8D-6EAA-6F31-559D-96101984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07E20-D8E8-341A-76BB-F4D447041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BEC95-0AF6-8A00-8B5E-BCD129175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our goal in this project: We want to control the temperature of something (in our case, an </a:t>
            </a:r>
            <a:r>
              <a:rPr lang="en-US" dirty="0" err="1"/>
              <a:t>aluminium</a:t>
            </a:r>
            <a:r>
              <a:rPr lang="en-US" dirty="0"/>
              <a:t> slab) and keep it constant. What is the best way to do that?</a:t>
            </a:r>
          </a:p>
          <a:p>
            <a:r>
              <a:rPr lang="en-US" dirty="0"/>
              <a:t>For this we need control theory.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2E8B4-5BFB-4ED8-C3F5-99222702B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38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for open loop </a:t>
            </a:r>
            <a:r>
              <a:rPr lang="en-US" dirty="0" err="1"/>
              <a:t>systems:regular</a:t>
            </a:r>
            <a:r>
              <a:rPr lang="en-US" dirty="0"/>
              <a:t> simple heaters</a:t>
            </a:r>
            <a:br>
              <a:rPr lang="en-US" dirty="0"/>
            </a:br>
            <a:r>
              <a:rPr lang="en-US" dirty="0"/>
              <a:t>Examples for closed loop: air conditioning closed loop system, oven, AFM, cruise control in car, drone height, servo motor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U(t) – 0-100%. This is the power output.</a:t>
            </a:r>
            <a:br>
              <a:rPr lang="en-US" dirty="0"/>
            </a:br>
            <a:r>
              <a:rPr lang="en-US" dirty="0"/>
              <a:t>Integral is from start of experiment or using a window. This should be limited by us so as not to be above maximum</a:t>
            </a:r>
          </a:p>
          <a:p>
            <a:r>
              <a:rPr lang="en-US" dirty="0"/>
              <a:t>In a slow system the derivative will be small, smaller than the effect of the noise (which can change rapidly)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simulation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71C5-3066-9C54-BFCE-8480B34F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BCEE6-758E-3862-E666-9571174E5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ADCE9-53DF-0C08-1508-DB7C023AD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5E222-FCD5-50AD-F5C6-891278B3F7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77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1C7EF-23A6-1258-FD39-3B64FCDDF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C15F7-D44F-FEE6-3112-595882AD8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D0C87-F407-54FA-33A5-E096DC6FD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3A141-5B49-D5C4-0731-734BF6F8E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54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74980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16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istudio.google.com/apps/89c8497b-6ef7-47e3-8d81-3ab77d0bbe13?showPreview=true&amp;showAssistant=true&amp;project=gen-lang-client-007312028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713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PREPARATION</a:t>
            </a:r>
            <a:endParaRPr lang="en-US" sz="1300" dirty="0"/>
          </a:p>
        </p:txBody>
      </p:sp>
      <p:sp>
        <p:nvSpPr>
          <p:cNvPr id="1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06424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can we achieve constant temperature in our system?</a:t>
            </a:r>
            <a:endParaRPr lang="en-US" sz="40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27C4CE09-640C-8F8D-986E-CA31AE767063}"/>
              </a:ext>
            </a:extLst>
          </p:cNvPr>
          <p:cNvSpPr/>
          <p:nvPr/>
        </p:nvSpPr>
        <p:spPr>
          <a:xfrm>
            <a:off x="731520" y="2884437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kern="0" spc="300" dirty="0">
                <a:solidFill>
                  <a:srgbClr val="7F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SUGGESTIONS?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57321-1C41-F21F-048A-5816BD81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592F8D-8F06-EE8C-6F9F-26E989C87301}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AE8935-4973-82BD-A45D-DB5DEEAEB3EA}"/>
              </a:ext>
            </a:extLst>
          </p:cNvPr>
          <p:cNvSpPr/>
          <p:nvPr/>
        </p:nvSpPr>
        <p:spPr>
          <a:xfrm>
            <a:off x="0" y="146304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D7FA39-8164-66D1-E399-FE5E13ABDD5F}"/>
              </a:ext>
            </a:extLst>
          </p:cNvPr>
          <p:cNvSpPr/>
          <p:nvPr/>
        </p:nvSpPr>
        <p:spPr>
          <a:xfrm flipV="1">
            <a:off x="548640" y="4297680"/>
            <a:ext cx="731520" cy="182880"/>
          </a:xfrm>
          <a:prstGeom prst="line">
            <a:avLst/>
          </a:prstGeom>
          <a:noFill/>
          <a:ln w="25400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F517A16-B68F-2372-613E-C41FE7D93570}"/>
              </a:ext>
            </a:extLst>
          </p:cNvPr>
          <p:cNvSpPr/>
          <p:nvPr/>
        </p:nvSpPr>
        <p:spPr>
          <a:xfrm flipV="1">
            <a:off x="1280160" y="3840480"/>
            <a:ext cx="640080" cy="457200"/>
          </a:xfrm>
          <a:prstGeom prst="line">
            <a:avLst/>
          </a:prstGeom>
          <a:noFill/>
          <a:ln w="25400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6FF5D5-E4B6-22CF-D842-F333360D83DF}"/>
              </a:ext>
            </a:extLst>
          </p:cNvPr>
          <p:cNvSpPr/>
          <p:nvPr/>
        </p:nvSpPr>
        <p:spPr>
          <a:xfrm flipV="1">
            <a:off x="1920240" y="3246120"/>
            <a:ext cx="548640" cy="594360"/>
          </a:xfrm>
          <a:prstGeom prst="line">
            <a:avLst/>
          </a:prstGeom>
          <a:noFill/>
          <a:ln w="25400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B6023F-D7CC-70ED-E81C-D7237607D5CE}"/>
              </a:ext>
            </a:extLst>
          </p:cNvPr>
          <p:cNvSpPr/>
          <p:nvPr/>
        </p:nvSpPr>
        <p:spPr>
          <a:xfrm flipV="1">
            <a:off x="2468880" y="2880360"/>
            <a:ext cx="548640" cy="365760"/>
          </a:xfrm>
          <a:prstGeom prst="line">
            <a:avLst/>
          </a:prstGeom>
          <a:noFill/>
          <a:ln w="25400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11055AE-9158-9A83-6DDE-72823A0818BB}"/>
              </a:ext>
            </a:extLst>
          </p:cNvPr>
          <p:cNvSpPr/>
          <p:nvPr/>
        </p:nvSpPr>
        <p:spPr>
          <a:xfrm>
            <a:off x="3017520" y="2880360"/>
            <a:ext cx="548640" cy="182880"/>
          </a:xfrm>
          <a:prstGeom prst="line">
            <a:avLst/>
          </a:prstGeom>
          <a:noFill/>
          <a:ln w="25400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73DF39-5358-DA19-CE6D-150B928D0078}"/>
              </a:ext>
            </a:extLst>
          </p:cNvPr>
          <p:cNvSpPr/>
          <p:nvPr/>
        </p:nvSpPr>
        <p:spPr>
          <a:xfrm flipV="1">
            <a:off x="3566160" y="2788920"/>
            <a:ext cx="548640" cy="274320"/>
          </a:xfrm>
          <a:prstGeom prst="line">
            <a:avLst/>
          </a:prstGeom>
          <a:noFill/>
          <a:ln w="25400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2512FA-E0E2-9E7F-F27A-C75AF8343E0C}"/>
              </a:ext>
            </a:extLst>
          </p:cNvPr>
          <p:cNvSpPr/>
          <p:nvPr/>
        </p:nvSpPr>
        <p:spPr>
          <a:xfrm>
            <a:off x="4114800" y="2788920"/>
            <a:ext cx="548640" cy="137160"/>
          </a:xfrm>
          <a:prstGeom prst="line">
            <a:avLst/>
          </a:prstGeom>
          <a:noFill/>
          <a:ln w="25400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587ACD8-DD30-E0CC-DFC5-913352EBFBB3}"/>
              </a:ext>
            </a:extLst>
          </p:cNvPr>
          <p:cNvSpPr/>
          <p:nvPr/>
        </p:nvSpPr>
        <p:spPr>
          <a:xfrm flipV="1">
            <a:off x="4663440" y="2852928"/>
            <a:ext cx="548640" cy="73152"/>
          </a:xfrm>
          <a:prstGeom prst="line">
            <a:avLst/>
          </a:prstGeom>
          <a:noFill/>
          <a:ln w="25400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5D1516-7CE9-8716-F4D2-0B462F7140FF}"/>
              </a:ext>
            </a:extLst>
          </p:cNvPr>
          <p:cNvSpPr/>
          <p:nvPr/>
        </p:nvSpPr>
        <p:spPr>
          <a:xfrm>
            <a:off x="5212080" y="2852928"/>
            <a:ext cx="3383280" cy="0"/>
          </a:xfrm>
          <a:prstGeom prst="line">
            <a:avLst/>
          </a:prstGeom>
          <a:noFill/>
          <a:ln w="25400">
            <a:solidFill>
              <a:srgbClr val="2A3F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EDAAF5D-8154-3369-BF69-1656F999523F}"/>
              </a:ext>
            </a:extLst>
          </p:cNvPr>
          <p:cNvSpPr/>
          <p:nvPr/>
        </p:nvSpPr>
        <p:spPr>
          <a:xfrm>
            <a:off x="548640" y="2852928"/>
            <a:ext cx="8046720" cy="0"/>
          </a:xfrm>
          <a:prstGeom prst="line">
            <a:avLst/>
          </a:prstGeom>
          <a:noFill/>
          <a:ln w="15875">
            <a:solidFill>
              <a:srgbClr val="F973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084D09-C46A-9E5C-D9A6-9232006A53E0}"/>
              </a:ext>
            </a:extLst>
          </p:cNvPr>
          <p:cNvSpPr/>
          <p:nvPr/>
        </p:nvSpPr>
        <p:spPr>
          <a:xfrm>
            <a:off x="731520" y="713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PREPARATION</a:t>
            </a:r>
            <a:endParaRPr lang="en-US" sz="13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8CD88D96-1F27-7C16-45FA-F006C74BF34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731520" y="1106424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Closed-Loop Temperature Control</a:t>
            </a:r>
            <a:endParaRPr lang="en-US" sz="4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AF36B1-2C6B-AF70-515C-8A0BF2084E73}"/>
              </a:ext>
            </a:extLst>
          </p:cNvPr>
          <p:cNvSpPr/>
          <p:nvPr/>
        </p:nvSpPr>
        <p:spPr>
          <a:xfrm>
            <a:off x="822960" y="340156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PI controller that holds a heating pad on target — with a thermocouple or PT100 sensor for feedback.</a:t>
            </a:r>
            <a:endParaRPr lang="en-US" sz="1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391097-01A5-E67C-3DDE-4353BE6BDFC2}"/>
              </a:ext>
            </a:extLst>
          </p:cNvPr>
          <p:cNvSpPr/>
          <p:nvPr/>
        </p:nvSpPr>
        <p:spPr>
          <a:xfrm>
            <a:off x="822960" y="4553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Lab-prep guide  •  Read before the hands-on labs</a:t>
            </a:r>
            <a:endParaRPr lang="en-US" sz="1100" dirty="0"/>
          </a:p>
        </p:txBody>
      </p:sp>
      <p:pic>
        <p:nvPicPr>
          <p:cNvPr id="19" name="Image 0" descr="Orange silicone heating pad bonded to an aluminum plate, with red power leads">
            <a:extLst>
              <a:ext uri="{FF2B5EF4-FFF2-40B4-BE49-F238E27FC236}">
                <a16:creationId xmlns:a16="http://schemas.microsoft.com/office/drawing/2014/main" id="{0D871556-D125-7240-293E-49A5E6203B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65" r="21506"/>
          <a:stretch>
            <a:fillRect/>
          </a:stretch>
        </p:blipFill>
        <p:spPr>
          <a:xfrm>
            <a:off x="7109460" y="516638"/>
            <a:ext cx="1668780" cy="260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5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Loop vs. Closed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CONTROL THEORY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theory makes a system track a target automatically — feeding actual behavior back to correct for disturbances we can't predict (heat loss, changing load).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27632"/>
            <a:ext cx="3913632" cy="2651760"/>
          </a:xfrm>
          <a:prstGeom prst="roundRect">
            <a:avLst>
              <a:gd name="adj" fmla="val 2069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LOOP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0116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input and hope — no measurement feeds back.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" y="2487168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" y="2487168"/>
            <a:ext cx="1051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487168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75104" y="2487168"/>
            <a:ext cx="1097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2487168"/>
            <a:ext cx="102412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8688" y="2487168"/>
            <a:ext cx="102412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37944" y="2715768"/>
            <a:ext cx="137160" cy="0"/>
          </a:xfrm>
          <a:prstGeom prst="line">
            <a:avLst/>
          </a:prstGeom>
          <a:noFill/>
          <a:ln w="25400">
            <a:solidFill>
              <a:srgbClr val="5B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72384" y="2715768"/>
            <a:ext cx="146304" cy="0"/>
          </a:xfrm>
          <a:prstGeom prst="line">
            <a:avLst/>
          </a:prstGeom>
          <a:noFill/>
          <a:ln w="25400">
            <a:solidFill>
              <a:srgbClr val="5B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37360" y="3246120"/>
            <a:ext cx="15544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3246120"/>
            <a:ext cx="1554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" y="37673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path — drift goes unnoticed.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627632"/>
            <a:ext cx="3913632" cy="2651760"/>
          </a:xfrm>
          <a:prstGeom prst="roundRect">
            <a:avLst>
              <a:gd name="adj" fmla="val 2069"/>
            </a:avLst>
          </a:prstGeom>
          <a:solidFill>
            <a:srgbClr val="EEF3FE"/>
          </a:solidFill>
          <a:ln w="12700">
            <a:solidFill>
              <a:srgbClr val="C6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17373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 LOOP  (what we build)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82896" y="20116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output, compute an error, drive the controller.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82896" y="248716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82896" y="2487168"/>
            <a:ext cx="868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70448" y="2505456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70448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487168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0" y="2487168"/>
            <a:ext cx="960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61504" y="2487168"/>
            <a:ext cx="89611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61504" y="2487168"/>
            <a:ext cx="8961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51576" y="2715768"/>
            <a:ext cx="118872" cy="0"/>
          </a:xfrm>
          <a:prstGeom prst="line">
            <a:avLst/>
          </a:prstGeom>
          <a:noFill/>
          <a:ln w="25400">
            <a:solidFill>
              <a:srgbClr val="5B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91072" y="2715768"/>
            <a:ext cx="109728" cy="0"/>
          </a:xfrm>
          <a:prstGeom prst="line">
            <a:avLst/>
          </a:prstGeom>
          <a:noFill/>
          <a:ln w="25400">
            <a:solidFill>
              <a:srgbClr val="5B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60920" y="2715768"/>
            <a:ext cx="100584" cy="0"/>
          </a:xfrm>
          <a:prstGeom prst="line">
            <a:avLst/>
          </a:prstGeom>
          <a:noFill/>
          <a:ln w="25400">
            <a:solidFill>
              <a:srgbClr val="5B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50508" y="3310128"/>
            <a:ext cx="14173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62650" y="3310128"/>
            <a:ext cx="14173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09560" y="2944368"/>
            <a:ext cx="0" cy="56692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80760" y="3511296"/>
            <a:ext cx="269747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80760" y="2715768"/>
            <a:ext cx="0" cy="79552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91745" y="3653038"/>
            <a:ext cx="852055" cy="22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feedback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4553712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6928" y="4553712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86384" y="4553712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an open-loop heater guarantee stable temperature if someone opens a window nearby?</a:t>
            </a:r>
            <a:endParaRPr lang="en-US" sz="105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267680BE-0AA5-FE48-0289-A7AF487A2C50}"/>
              </a:ext>
            </a:extLst>
          </p:cNvPr>
          <p:cNvSpPr/>
          <p:nvPr/>
        </p:nvSpPr>
        <p:spPr>
          <a:xfrm>
            <a:off x="7767829" y="3511296"/>
            <a:ext cx="141732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PID Controller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TERMS FROM ONE ERROR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8010144" cy="603504"/>
          </a:xfrm>
          <a:prstGeom prst="roundRect">
            <a:avLst>
              <a:gd name="adj" fmla="val 9091"/>
            </a:avLst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106070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9F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e(t) = setpoint − measured     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u(t) = </a:t>
            </a:r>
            <a:r>
              <a:rPr lang="en-US" sz="135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Kp·e(t)</a:t>
            </a:r>
            <a:r>
              <a:rPr lang="en-US" sz="13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35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Ki·∫e(τ)dτ</a:t>
            </a:r>
            <a:r>
              <a:rPr lang="en-US" sz="13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35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Kd·de/dt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256032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03120"/>
            <a:ext cx="2560320" cy="20116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— Proportional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41401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the CURRENT error.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76148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error → bigger correction. Alone it always leaves a small steady-state offset — as error shrinks, so does the push.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847088"/>
            <a:ext cx="256032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184708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2103120"/>
            <a:ext cx="2560320" cy="20116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— Integral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38144" y="241401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ACCUMULATED past error.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38144" y="276148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pushing while any error remains, so it erases steady-state offset — but too much causes </a:t>
            </a: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</a:t>
            </a: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windup</a:t>
            </a: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16752" y="1847088"/>
            <a:ext cx="256032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16752" y="1847088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16752" y="2103120"/>
            <a:ext cx="2560320" cy="20116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08192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— Derivative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63056" y="241401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the RATE OF CHANGE.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63056" y="2761488"/>
            <a:ext cx="2267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Damps fast swings before they overshoot. Great on quick systems, but it amplifies sensor noise.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224528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" y="4224528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6384" y="4224528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derivative term noisy on a slow system?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Between P, PI, PD, or PID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CONTROLLER TO THE SYSTEM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170432"/>
            <a:ext cx="8010144" cy="658368"/>
          </a:xfrm>
          <a:prstGeom prst="roundRect">
            <a:avLst>
              <a:gd name="adj" fmla="val 6944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28930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8930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11704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systems where some steady-state offset is acceptable.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956816"/>
            <a:ext cx="8010144" cy="658368"/>
          </a:xfrm>
          <a:prstGeom prst="roundRect">
            <a:avLst>
              <a:gd name="adj" fmla="val 6944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07568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0756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5960" y="19568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steady-state error when the process is slow enough that D-noise hurts more than it helps.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WE USE THIS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743200"/>
            <a:ext cx="8010144" cy="658368"/>
          </a:xfrm>
          <a:prstGeom prst="roundRect">
            <a:avLst>
              <a:gd name="adj" fmla="val 6944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86207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8620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65960" y="27432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systems (e.g. motor position) where damping overshoot beats erasing a small offset.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529584"/>
            <a:ext cx="8010144" cy="658368"/>
          </a:xfrm>
          <a:prstGeom prst="roundRect">
            <a:avLst>
              <a:gd name="adj" fmla="val 6944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364845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6484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65960" y="352958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zero offset AND fast, well-damped response — when D can be tamed (e.g. filtered).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44398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systems respond slowly, so a derivative term mostly amplifies sensor noise without adding real benefit — PI is the sweet spot for the heater.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Tuning PID Parameters: </a:t>
            </a: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3"/>
              </a:rPr>
              <a:t>Simulation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MANUAL, OBSERVATIONAL METHOD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170432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152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with P only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142646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Ki = Kd = 0. Raise Kp until temperature nears setpoint quickly — stop before it oscillates persistently.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 in small steps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3000" y="245059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steady-state offset P leaves behind. Watch for slow oscillation or growing overshoot — that means Ki is too high.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21868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D only if needed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347472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this slow thermal system. It damps leftover oscillation but reacts to noise.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170432"/>
            <a:ext cx="3456432" cy="3054096"/>
          </a:xfrm>
          <a:prstGeom prst="roundRect">
            <a:avLst>
              <a:gd name="adj" fmla="val 1796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21808" y="1316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SIGNS TO WATCH FOR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1737360"/>
            <a:ext cx="305409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68112" y="18105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overshoot / ringing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68112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reduce Kp or Ki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21808" y="2560320"/>
            <a:ext cx="305409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68112" y="263347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Sluggish, never reaches setpoint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68112" y="29443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increase Kp, or add/raise Ki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21808" y="3383280"/>
            <a:ext cx="305409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68112" y="34564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oscillation that grows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68112" y="37673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Ki is too high; reduce it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553712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6928" y="4553712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6384" y="4553712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temperature overshoots then oscillates with shrinking amplitude before settling, which term do you adjust first — and which way?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9854-1C3F-2E4D-FA12-0AD5A8FA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F16585-4A68-EBD3-9E2C-39656E125794}"/>
              </a:ext>
            </a:extLst>
          </p:cNvPr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F7B781-7E7F-D213-623F-E2D102A240B2}"/>
              </a:ext>
            </a:extLst>
          </p:cNvPr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1618BAE-20CF-22C8-9235-9FB0D33BE73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Project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1A09F9-6627-0364-17C4-EB838C6B560B}"/>
              </a:ext>
            </a:extLst>
          </p:cNvPr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cs typeface="Calibri" pitchFamily="34" charset="-120"/>
              </a:rPr>
              <a:t>HANDS ON EXPERIMENT</a:t>
            </a:r>
            <a:endParaRPr lang="en-US" sz="10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58483F1-21EE-17EC-9929-CA69CAFA20E2}"/>
              </a:ext>
            </a:extLst>
          </p:cNvPr>
          <p:cNvSpPr/>
          <p:nvPr/>
        </p:nvSpPr>
        <p:spPr>
          <a:xfrm>
            <a:off x="566928" y="1170432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E99182-6B1D-288D-3BFC-A0664BBE4EF8}"/>
              </a:ext>
            </a:extLst>
          </p:cNvPr>
          <p:cNvSpPr/>
          <p:nvPr/>
        </p:nvSpPr>
        <p:spPr>
          <a:xfrm>
            <a:off x="566928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ADDA897-C46A-04D6-D796-C84896030F5E}"/>
              </a:ext>
            </a:extLst>
          </p:cNvPr>
          <p:cNvSpPr/>
          <p:nvPr/>
        </p:nvSpPr>
        <p:spPr>
          <a:xfrm>
            <a:off x="1143000" y="1152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Power output to heat a heating sheet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3929D5-8331-8558-144B-0CAEDEBF471C}"/>
              </a:ext>
            </a:extLst>
          </p:cNvPr>
          <p:cNvSpPr/>
          <p:nvPr/>
        </p:nvSpPr>
        <p:spPr>
          <a:xfrm>
            <a:off x="1143000" y="142646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r>
              <a:rPr lang="en-US" sz="1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duty cycles for fine control of power output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D49DD6F-77B6-1DAD-DB01-60B1761D60C2}"/>
              </a:ext>
            </a:extLst>
          </p:cNvPr>
          <p:cNvSpPr/>
          <p:nvPr/>
        </p:nvSpPr>
        <p:spPr>
          <a:xfrm>
            <a:off x="566928" y="21945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9F39EF-9DCA-C879-0A51-327D4741D628}"/>
              </a:ext>
            </a:extLst>
          </p:cNvPr>
          <p:cNvSpPr/>
          <p:nvPr/>
        </p:nvSpPr>
        <p:spPr>
          <a:xfrm>
            <a:off x="56692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81CC56A-C78B-A6AE-CF29-C895E20E320F}"/>
              </a:ext>
            </a:extLst>
          </p:cNvPr>
          <p:cNvSpPr/>
          <p:nvPr/>
        </p:nvSpPr>
        <p:spPr>
          <a:xfrm>
            <a:off x="114300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temperature using sensor</a:t>
            </a:r>
            <a:endParaRPr lang="en-US" sz="13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60FC4DB-B261-2111-D779-D670F91ACBA9}"/>
              </a:ext>
            </a:extLst>
          </p:cNvPr>
          <p:cNvSpPr/>
          <p:nvPr/>
        </p:nvSpPr>
        <p:spPr>
          <a:xfrm>
            <a:off x="1143000" y="245059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100" dirty="0" err="1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</a:t>
            </a:r>
            <a:r>
              <a:rPr lang="en-US" sz="1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PT-100 to measure the temperature – feedback for closed loop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2A29882-EDF5-E48A-A141-21C72E49795D}"/>
              </a:ext>
            </a:extLst>
          </p:cNvPr>
          <p:cNvSpPr/>
          <p:nvPr/>
        </p:nvSpPr>
        <p:spPr>
          <a:xfrm>
            <a:off x="566928" y="321868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300D36-F66E-1BBC-C456-0070D3AC5532}"/>
              </a:ext>
            </a:extLst>
          </p:cNvPr>
          <p:cNvSpPr/>
          <p:nvPr/>
        </p:nvSpPr>
        <p:spPr>
          <a:xfrm>
            <a:off x="56692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BC16E76-A64D-7ECE-7D00-68A3A89D5F07}"/>
              </a:ext>
            </a:extLst>
          </p:cNvPr>
          <p:cNvSpPr/>
          <p:nvPr/>
        </p:nvSpPr>
        <p:spPr>
          <a:xfrm>
            <a:off x="11430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B"/>
                </a:solidFill>
                <a:latin typeface="Trebuchet MS" pitchFamily="34" charset="0"/>
              </a:rPr>
              <a:t>Keep temperature stable</a:t>
            </a:r>
            <a:endParaRPr lang="en-US" sz="13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C83F5F5-10F0-D061-6CA7-AAF4DA2DA7D2}"/>
              </a:ext>
            </a:extLst>
          </p:cNvPr>
          <p:cNvSpPr/>
          <p:nvPr/>
        </p:nvSpPr>
        <p:spPr>
          <a:xfrm>
            <a:off x="1143000" y="347472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different parameters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D2F93FB-B1AA-2DCD-9E45-DC5EA95E0411}"/>
              </a:ext>
            </a:extLst>
          </p:cNvPr>
          <p:cNvSpPr/>
          <p:nvPr/>
        </p:nvSpPr>
        <p:spPr>
          <a:xfrm>
            <a:off x="5120640" y="1170432"/>
            <a:ext cx="3456432" cy="3054096"/>
          </a:xfrm>
          <a:prstGeom prst="roundRect">
            <a:avLst>
              <a:gd name="adj" fmla="val 1796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73673B8-F1C1-F925-94AA-005A1CF12A86}"/>
              </a:ext>
            </a:extLst>
          </p:cNvPr>
          <p:cNvSpPr/>
          <p:nvPr/>
        </p:nvSpPr>
        <p:spPr>
          <a:xfrm>
            <a:off x="5321808" y="1316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8B3C29B-4C53-ED02-5E62-079ED0191648}"/>
              </a:ext>
            </a:extLst>
          </p:cNvPr>
          <p:cNvSpPr/>
          <p:nvPr/>
        </p:nvSpPr>
        <p:spPr>
          <a:xfrm>
            <a:off x="5321808" y="1737360"/>
            <a:ext cx="305409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5540DCC-82D5-DE34-4DDB-71E01F68DE81}"/>
              </a:ext>
            </a:extLst>
          </p:cNvPr>
          <p:cNvSpPr/>
          <p:nvPr/>
        </p:nvSpPr>
        <p:spPr>
          <a:xfrm>
            <a:off x="5468112" y="18105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parameters do we need?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9F2F01D-23A4-CD6F-A333-08790FCA37BE}"/>
              </a:ext>
            </a:extLst>
          </p:cNvPr>
          <p:cNvSpPr/>
          <p:nvPr/>
        </p:nvSpPr>
        <p:spPr>
          <a:xfrm>
            <a:off x="5468112" y="2121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PP,PI,PD,PID?</a:t>
            </a:r>
            <a:endParaRPr lang="en-US" sz="10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F6A1568-3C9A-5314-2CBC-03E1730FDF2D}"/>
              </a:ext>
            </a:extLst>
          </p:cNvPr>
          <p:cNvSpPr/>
          <p:nvPr/>
        </p:nvSpPr>
        <p:spPr>
          <a:xfrm>
            <a:off x="5321808" y="2560320"/>
            <a:ext cx="305409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AAE277C-1396-ABCB-FA78-71FE40472E08}"/>
              </a:ext>
            </a:extLst>
          </p:cNvPr>
          <p:cNvSpPr/>
          <p:nvPr/>
        </p:nvSpPr>
        <p:spPr>
          <a:xfrm>
            <a:off x="5468112" y="263347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range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63FC14E-160E-5EC4-7524-9C52BCA4B1C1}"/>
              </a:ext>
            </a:extLst>
          </p:cNvPr>
          <p:cNvSpPr/>
          <p:nvPr/>
        </p:nvSpPr>
        <p:spPr>
          <a:xfrm>
            <a:off x="5468112" y="29443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 we need to limit the Integral value and U(t)?</a:t>
            </a:r>
            <a:endParaRPr lang="en-US" sz="10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E18F792-6345-D504-6850-EA0F9A14FA15}"/>
              </a:ext>
            </a:extLst>
          </p:cNvPr>
          <p:cNvSpPr/>
          <p:nvPr/>
        </p:nvSpPr>
        <p:spPr>
          <a:xfrm>
            <a:off x="5321808" y="3383280"/>
            <a:ext cx="305409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76C8D73-9262-F338-3731-695745CA3B83}"/>
              </a:ext>
            </a:extLst>
          </p:cNvPr>
          <p:cNvSpPr/>
          <p:nvPr/>
        </p:nvSpPr>
        <p:spPr>
          <a:xfrm>
            <a:off x="5468112" y="345643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oscillation that grows - TK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D846A4F-E987-97B0-FAC0-497D6B8D2714}"/>
              </a:ext>
            </a:extLst>
          </p:cNvPr>
          <p:cNvSpPr/>
          <p:nvPr/>
        </p:nvSpPr>
        <p:spPr>
          <a:xfrm>
            <a:off x="5468112" y="37673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Ki is too high; reduce it</a:t>
            </a:r>
            <a:endParaRPr lang="en-US" sz="10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2F2B7BB-E80E-6AD4-595C-81483762F530}"/>
              </a:ext>
            </a:extLst>
          </p:cNvPr>
          <p:cNvSpPr/>
          <p:nvPr/>
        </p:nvSpPr>
        <p:spPr>
          <a:xfrm>
            <a:off x="566928" y="4553712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4FF358F-892F-3BBD-1DEF-23EAA4CFCE4F}"/>
              </a:ext>
            </a:extLst>
          </p:cNvPr>
          <p:cNvSpPr/>
          <p:nvPr/>
        </p:nvSpPr>
        <p:spPr>
          <a:xfrm>
            <a:off x="566928" y="4553712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5A28211-8051-DC36-9C7D-AC22435D3B3E}"/>
              </a:ext>
            </a:extLst>
          </p:cNvPr>
          <p:cNvSpPr/>
          <p:nvPr/>
        </p:nvSpPr>
        <p:spPr>
          <a:xfrm>
            <a:off x="786384" y="4553712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temperature overshoots then oscillates with shrinking amplitude before settling, which term do you adjust first — and which way?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11901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836B-4EF5-E02C-B9A2-344DDD95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F68E8D-E490-AD0A-BA40-DEA61C45A936}"/>
              </a:ext>
            </a:extLst>
          </p:cNvPr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2E2B4F-CFEB-511F-8B8C-E2692F630F89}"/>
              </a:ext>
            </a:extLst>
          </p:cNvPr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E278DF3-178C-553E-C014-41F6CDC2BFA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Between P, PI, PD, or PID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D62E90-75EB-B5AA-87CF-1337BF562431}"/>
              </a:ext>
            </a:extLst>
          </p:cNvPr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CONTROLLER TO THE SYSTEM</a:t>
            </a:r>
            <a:endParaRPr lang="en-US" sz="10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CDBC366-EDD6-FB1A-D10E-C41BCDC491D2}"/>
              </a:ext>
            </a:extLst>
          </p:cNvPr>
          <p:cNvSpPr/>
          <p:nvPr/>
        </p:nvSpPr>
        <p:spPr>
          <a:xfrm>
            <a:off x="566928" y="1170432"/>
            <a:ext cx="8010144" cy="658368"/>
          </a:xfrm>
          <a:prstGeom prst="roundRect">
            <a:avLst>
              <a:gd name="adj" fmla="val 6944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1FD9728-3009-994B-6996-146A8FF7C497}"/>
              </a:ext>
            </a:extLst>
          </p:cNvPr>
          <p:cNvSpPr/>
          <p:nvPr/>
        </p:nvSpPr>
        <p:spPr>
          <a:xfrm>
            <a:off x="731520" y="1289304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2A2C83-4181-1C95-FD7F-0500A6AD6138}"/>
              </a:ext>
            </a:extLst>
          </p:cNvPr>
          <p:cNvSpPr/>
          <p:nvPr/>
        </p:nvSpPr>
        <p:spPr>
          <a:xfrm>
            <a:off x="731520" y="128930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78245F-0F28-012B-8CDD-CE27FB5EB877}"/>
              </a:ext>
            </a:extLst>
          </p:cNvPr>
          <p:cNvSpPr/>
          <p:nvPr/>
        </p:nvSpPr>
        <p:spPr>
          <a:xfrm>
            <a:off x="1965960" y="11704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systems where some steady-state offset is acceptable.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38938E9-7594-EF8E-AA38-1073E89EC3EC}"/>
              </a:ext>
            </a:extLst>
          </p:cNvPr>
          <p:cNvSpPr/>
          <p:nvPr/>
        </p:nvSpPr>
        <p:spPr>
          <a:xfrm>
            <a:off x="566928" y="1956816"/>
            <a:ext cx="8010144" cy="658368"/>
          </a:xfrm>
          <a:prstGeom prst="roundRect">
            <a:avLst>
              <a:gd name="adj" fmla="val 6944"/>
            </a:avLst>
          </a:prstGeom>
          <a:solidFill>
            <a:srgbClr val="EEF3FE"/>
          </a:solidFill>
          <a:ln w="1905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265020F-39A7-D76C-268F-C7C3714E0CC8}"/>
              </a:ext>
            </a:extLst>
          </p:cNvPr>
          <p:cNvSpPr/>
          <p:nvPr/>
        </p:nvSpPr>
        <p:spPr>
          <a:xfrm>
            <a:off x="731520" y="2075688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BC9E2B1-0C44-B74B-07E4-13585366356A}"/>
              </a:ext>
            </a:extLst>
          </p:cNvPr>
          <p:cNvSpPr/>
          <p:nvPr/>
        </p:nvSpPr>
        <p:spPr>
          <a:xfrm>
            <a:off x="731520" y="20756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9297F2-A5F4-5285-90E2-CA2441143B2F}"/>
              </a:ext>
            </a:extLst>
          </p:cNvPr>
          <p:cNvSpPr/>
          <p:nvPr/>
        </p:nvSpPr>
        <p:spPr>
          <a:xfrm>
            <a:off x="1965960" y="19568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steady-state error when the process is slow enough that D-noise hurts more than it helps.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B7CE365-9176-2882-A2C2-7B4046C90F16}"/>
              </a:ext>
            </a:extLst>
          </p:cNvPr>
          <p:cNvSpPr/>
          <p:nvPr/>
        </p:nvSpPr>
        <p:spPr>
          <a:xfrm>
            <a:off x="6720840" y="214884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D76A2D3-6E56-06A8-A220-94E8E52E5105}"/>
              </a:ext>
            </a:extLst>
          </p:cNvPr>
          <p:cNvSpPr/>
          <p:nvPr/>
        </p:nvSpPr>
        <p:spPr>
          <a:xfrm>
            <a:off x="6720840" y="2148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WE USE THIS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A7B5B63-E7C3-4D17-75A2-03FA0D5CF6A0}"/>
              </a:ext>
            </a:extLst>
          </p:cNvPr>
          <p:cNvSpPr/>
          <p:nvPr/>
        </p:nvSpPr>
        <p:spPr>
          <a:xfrm>
            <a:off x="566928" y="2743200"/>
            <a:ext cx="8010144" cy="658368"/>
          </a:xfrm>
          <a:prstGeom prst="roundRect">
            <a:avLst>
              <a:gd name="adj" fmla="val 6944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D92E2E6-78C1-D5BD-2343-B8170F55BBAB}"/>
              </a:ext>
            </a:extLst>
          </p:cNvPr>
          <p:cNvSpPr/>
          <p:nvPr/>
        </p:nvSpPr>
        <p:spPr>
          <a:xfrm>
            <a:off x="731520" y="2862072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995B4FA-53D0-0754-F41F-AA73D7D0E0EF}"/>
              </a:ext>
            </a:extLst>
          </p:cNvPr>
          <p:cNvSpPr/>
          <p:nvPr/>
        </p:nvSpPr>
        <p:spPr>
          <a:xfrm>
            <a:off x="731520" y="28620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CF8DE79-178B-08E4-AD89-ED4DB2C69977}"/>
              </a:ext>
            </a:extLst>
          </p:cNvPr>
          <p:cNvSpPr/>
          <p:nvPr/>
        </p:nvSpPr>
        <p:spPr>
          <a:xfrm>
            <a:off x="1965960" y="27432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systems (e.g. motor position) where damping overshoot beats erasing a small offset.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D191A9A-64D5-1604-D869-590E75FBB818}"/>
              </a:ext>
            </a:extLst>
          </p:cNvPr>
          <p:cNvSpPr/>
          <p:nvPr/>
        </p:nvSpPr>
        <p:spPr>
          <a:xfrm>
            <a:off x="566928" y="3529584"/>
            <a:ext cx="8010144" cy="658368"/>
          </a:xfrm>
          <a:prstGeom prst="roundRect">
            <a:avLst>
              <a:gd name="adj" fmla="val 6944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6085629-968E-1AC5-4EC3-A38D3A8C2A63}"/>
              </a:ext>
            </a:extLst>
          </p:cNvPr>
          <p:cNvSpPr/>
          <p:nvPr/>
        </p:nvSpPr>
        <p:spPr>
          <a:xfrm>
            <a:off x="731520" y="3648456"/>
            <a:ext cx="1051560" cy="420624"/>
          </a:xfrm>
          <a:prstGeom prst="roundRect">
            <a:avLst>
              <a:gd name="adj" fmla="val 1304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AD2D3F-F52A-B009-55C7-B8369ACE4C16}"/>
              </a:ext>
            </a:extLst>
          </p:cNvPr>
          <p:cNvSpPr/>
          <p:nvPr/>
        </p:nvSpPr>
        <p:spPr>
          <a:xfrm>
            <a:off x="731520" y="36484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PID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33A8538-C217-EC68-6E7D-3BC590650C38}"/>
              </a:ext>
            </a:extLst>
          </p:cNvPr>
          <p:cNvSpPr/>
          <p:nvPr/>
        </p:nvSpPr>
        <p:spPr>
          <a:xfrm>
            <a:off x="1965960" y="352958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zero offset AND fast, well-damped response — when D can be tamed (e.g. filtered).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37D4183-92AE-184D-CFE1-3DE5115DF00E}"/>
              </a:ext>
            </a:extLst>
          </p:cNvPr>
          <p:cNvSpPr/>
          <p:nvPr/>
        </p:nvSpPr>
        <p:spPr>
          <a:xfrm>
            <a:off x="566928" y="444398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systems respond slowly, so a derivative term mostly amplifies sensor noise without adding real benefit — PI is the sweet spot for the heater.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69898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for the Final Project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TEXTBOOK CLOSED-LOOP 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heating pad at a chosen temperature despite heat loss to the air — using the TC or PT100 for feedback. Everything above is exactly what you implement, run, and tune by hand on real hardware.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9476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947672" cy="10972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2084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SETPOINT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temperature you choose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96312" y="2651760"/>
            <a:ext cx="173736" cy="0"/>
          </a:xfrm>
          <a:prstGeom prst="line">
            <a:avLst/>
          </a:prstGeom>
          <a:noFill/>
          <a:ln w="22225">
            <a:solidFill>
              <a:srgbClr val="5B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0" y="1737360"/>
            <a:ext cx="19476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51760" y="1737360"/>
            <a:ext cx="1947672" cy="1097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79776" y="2084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FEEDBACK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79776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or PT100 reading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81144" y="2651760"/>
            <a:ext cx="173736" cy="0"/>
          </a:xfrm>
          <a:prstGeom prst="line">
            <a:avLst/>
          </a:prstGeom>
          <a:noFill/>
          <a:ln w="22225">
            <a:solidFill>
              <a:srgbClr val="5B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36592" y="1737360"/>
            <a:ext cx="19476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36592" y="1737360"/>
            <a:ext cx="1947672" cy="10972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2084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 implementation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65976" y="2651760"/>
            <a:ext cx="173736" cy="0"/>
          </a:xfrm>
          <a:prstGeom prst="line">
            <a:avLst/>
          </a:prstGeom>
          <a:noFill/>
          <a:ln w="22225">
            <a:solidFill>
              <a:srgbClr val="5B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21424" y="1737360"/>
            <a:ext cx="19476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21424" y="1737360"/>
            <a:ext cx="1947672" cy="1097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2084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2651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 switching power via PWM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840480"/>
            <a:ext cx="8010144" cy="640080"/>
          </a:xfrm>
          <a:prstGeom prst="roundRect">
            <a:avLst>
              <a:gd name="adj" fmla="val 8571"/>
            </a:avLst>
          </a:prstGeom>
          <a:solidFill>
            <a:srgbClr val="EEF3FE"/>
          </a:solidFill>
          <a:ln w="12700">
            <a:solidFill>
              <a:srgbClr val="C6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6384" y="38404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 </a:t>
            </a: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loop against both sensors and compare how a thermocouple and a PT100 behave on identical hardware.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Thermocouple vs. PT100 Sensors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WIRING, DIFFERENT PHYSICS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391363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3913632" cy="493776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3913632" cy="23774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11556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THERMOCOUPLE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596896" y="11155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K-type · MAX31856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1755648"/>
            <a:ext cx="1389888" cy="2139696"/>
          </a:xfrm>
          <a:prstGeom prst="roundRect">
            <a:avLst>
              <a:gd name="adj" fmla="val 3289"/>
            </a:avLst>
          </a:prstGeom>
          <a:solidFill>
            <a:srgbClr val="16233B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K-type thermocouple probe with a two-wire cable and a stainless-steel t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865376"/>
            <a:ext cx="1280160" cy="19202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249424" y="1755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249424" y="195681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Seebeck voltage at a two-metal junction; the amp compensates the cold junction.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249424" y="246888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249424" y="267004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wires (K-type).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249424" y="318211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249424" y="3383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and more stable when touched or disturbed.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1115568"/>
            <a:ext cx="391363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63440" y="1115568"/>
            <a:ext cx="3913632" cy="493776"/>
          </a:xfrm>
          <a:prstGeom prst="roundRect">
            <a:avLst>
              <a:gd name="adj" fmla="val 11111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0" y="1371600"/>
            <a:ext cx="3913632" cy="2377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09744" y="111556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PT100 RTD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93408" y="111556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MAX31865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09744" y="1755648"/>
            <a:ext cx="1389888" cy="2139696"/>
          </a:xfrm>
          <a:prstGeom prst="roundRect">
            <a:avLst>
              <a:gd name="adj" fmla="val 3289"/>
            </a:avLst>
          </a:prstGeom>
          <a:solidFill>
            <a:srgbClr val="16233B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T100 RTD probe with a braided cable and three spade-terminal wi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972056"/>
            <a:ext cx="1280160" cy="17068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45936" y="1755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345936" y="195681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resistance rises with temperature — 100 Ω at 0 °C.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345936" y="246888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345936" y="267004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3-wire, which cancels lead-wire resistance.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345936" y="318211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345936" y="3383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and more fault-prone when disturbed.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66928" y="4224528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566928" y="4224528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786384" y="4224528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MAX31856 need the cold-junction temperature while the MAX31865 doesn't?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Implementing PID in Software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TIME ON A MICROCONTROLLER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microcontroller works in discrete steps: approximate the integral as a running sum and the derivative as a difference between samples.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4709160" cy="2615184"/>
          </a:xfrm>
          <a:prstGeom prst="roundRect">
            <a:avLst>
              <a:gd name="adj" fmla="val 2098"/>
            </a:avLst>
          </a:prstGeom>
          <a:solidFill>
            <a:srgbClr val="0F1B33"/>
          </a:solidFill>
          <a:ln/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" y="1627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control cycle  ·  every dt seconds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1956816"/>
            <a:ext cx="43434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   = setpoint − measured_temp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integral = integral + error * dt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integral = clamp(integral, min, max)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 = Kp*error + Ki*integral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 = clamp(output, 0, 100)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apply(output)   # drive the heater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68112" y="1517904"/>
            <a:ext cx="3108960" cy="1243584"/>
          </a:xfrm>
          <a:prstGeom prst="roundRect">
            <a:avLst>
              <a:gd name="adj" fmla="val 4412"/>
            </a:avLst>
          </a:prstGeom>
          <a:solidFill>
            <a:srgbClr val="EEF3FE"/>
          </a:solidFill>
          <a:ln w="12700">
            <a:solidFill>
              <a:srgbClr val="C6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32704" y="1618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Anti-windup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32704" y="1920240"/>
            <a:ext cx="28163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integral grows unbounded while output is saturated (heater at 100%), it takes ages to unwind — causing big overshoot. Clamp the integral term.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68112" y="2889504"/>
            <a:ext cx="3108960" cy="1243584"/>
          </a:xfrm>
          <a:prstGeom prst="roundRect">
            <a:avLst>
              <a:gd name="adj" fmla="val 4412"/>
            </a:avLst>
          </a:prstGeom>
          <a:solidFill>
            <a:srgbClr val="EEF3FE"/>
          </a:solidFill>
          <a:ln w="12700">
            <a:solidFill>
              <a:srgbClr val="C6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32704" y="29900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sample interval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32704" y="3291840"/>
            <a:ext cx="28163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Δt (not "however long the loop took") keeps the I and D terms mathematically consistent between runs.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553712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" y="4553712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4553712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overshoot if we remove the anti-windup clamp on a system that sits at 100% duty for a long time before reaching setpoint?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 Communication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SYNCHRONOUS MASTER–SLAVE BUS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amplifiers (MAX31856 for the TC, MAX31865 for the PT100) talk to the Arduino over SPI — four signals share the bus.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1947672" cy="22860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1517904"/>
            <a:ext cx="1947672" cy="512064"/>
          </a:xfrm>
          <a:prstGeom prst="roundRect">
            <a:avLst>
              <a:gd name="adj" fmla="val 1071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" y="1773936"/>
            <a:ext cx="1947672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51790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" y="2121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Serial Clock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944" y="2578608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generates the clock that paces every bit.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" y="343814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" y="3438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1517904"/>
            <a:ext cx="1947672" cy="22860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51760" y="1517904"/>
            <a:ext cx="1947672" cy="512064"/>
          </a:xfrm>
          <a:prstGeom prst="roundRect">
            <a:avLst>
              <a:gd name="adj" fmla="val 1071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51760" y="1773936"/>
            <a:ext cx="1947672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151790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79776" y="2121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Out, Slave 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79776" y="2578608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Arduino to the sensor module.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79776" y="343814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79776" y="3438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1517904"/>
            <a:ext cx="1947672" cy="22860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36592" y="1517904"/>
            <a:ext cx="1947672" cy="512064"/>
          </a:xfrm>
          <a:prstGeom prst="roundRect">
            <a:avLst>
              <a:gd name="adj" fmla="val 10714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36592" y="1773936"/>
            <a:ext cx="1947672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151790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MISO / SDO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64608" y="2121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In, Slave Out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2578608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the sensor back to Arduino.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64608" y="343814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3438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12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21424" y="1517904"/>
            <a:ext cx="1947672" cy="22860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821424" y="1517904"/>
            <a:ext cx="1947672" cy="512064"/>
          </a:xfrm>
          <a:prstGeom prst="roundRect">
            <a:avLst>
              <a:gd name="adj" fmla="val 10714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21424" y="1773936"/>
            <a:ext cx="1947672" cy="25603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12864" y="1517904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49440" y="2121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Chip Select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49440" y="2578608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low to address one slave; each device needs its own CS.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49440" y="343814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49440" y="3438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3968496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Uno / Grove Beginner Kit, SCK/MOSI/MISO are fixed at pins 13/11/12 — only CS is freely assignable. </a:t>
            </a: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D4 for both sensors, one at a time.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4553712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6928" y="4553712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6384" y="4553712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read a TC and a PT100 at the same time on one Arduino, which SPI pins would be shared and which separate?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Pins on the Sensor Transducers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BREAKOUT-BOARD LABELS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133856"/>
            <a:ext cx="3913632" cy="279806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133856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3913632" cy="2834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170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MAX31856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4447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 amplifier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847088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8470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 / GND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55648" y="1847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176272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EEF3FE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176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55648" y="2176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 — data to Arduino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505456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EEF3FE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505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55648" y="2505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clock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EEF3FE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28346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55648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select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163824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EEF3FE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1638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55648" y="31638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 — data from Arduino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3493008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349300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DRDY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55648" y="34930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data-ready interrupt (optional)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133856"/>
            <a:ext cx="3913632" cy="279806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1133856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1417320"/>
            <a:ext cx="3913632" cy="28346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9744" y="1170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MAX31865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09744" y="14447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PT100 / RTD amplifier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28032" y="1847088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28032" y="18470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 / 3V3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1847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2176272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EEF3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2176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0" y="2176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 — data to Arduino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28032" y="2505456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EEF3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28032" y="2505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52160" y="25054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select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28032" y="2834640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EEF3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28032" y="28346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5216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SCK — serial clock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28032" y="3163824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EEF3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28032" y="31638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52160" y="31638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 — data from Arduino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28032" y="3493008"/>
            <a:ext cx="932688" cy="274320"/>
          </a:xfrm>
          <a:prstGeom prst="roundRect">
            <a:avLst>
              <a:gd name="adj" fmla="val 13333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28032" y="349300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52160" y="34930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interrupt + 2/3/4-wire jumper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6928" y="4059936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expose the same four SPI signals </a:t>
            </a:r>
            <a:r>
              <a:rPr lang="en-US" sz="11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(named slightly differently)</a:t>
            </a: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power and an optional ready pin — so they swap into the same wiring with minimal changes.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66928" y="4553712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66928" y="4553712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86384" y="4553712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polling a fault flag every cycle, both chips expose a DRDY/RDY pin. What kind of Arduino input reacts to it without constant polling?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Controlling Power: MOSFET &amp; PWM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BIG CURRENT WITH A TINY PIN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06070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pins supply only a few milliamps. PWM drives the gate of a MOSFET — a voltage-controlled switch — which switches the heater's much larger current on and off.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4709160" cy="2377440"/>
          </a:xfrm>
          <a:prstGeom prst="roundRect">
            <a:avLst>
              <a:gd name="adj" fmla="val 2308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7739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DUTY CYCLE = fraction of time 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15785" y="2194560"/>
            <a:ext cx="2926080" cy="310896"/>
          </a:xfrm>
          <a:prstGeom prst="rect">
            <a:avLst/>
          </a:prstGeom>
          <a:solidFill>
            <a:srgbClr val="E3E9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15785" y="2194560"/>
            <a:ext cx="731520" cy="31089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4809" y="21945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51593" y="2194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power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15785" y="2724912"/>
            <a:ext cx="2926080" cy="310896"/>
          </a:xfrm>
          <a:prstGeom prst="rect">
            <a:avLst/>
          </a:prstGeom>
          <a:solidFill>
            <a:srgbClr val="E3E9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15785" y="2724912"/>
            <a:ext cx="1463040" cy="31089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4809" y="27249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51593" y="2724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power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15785" y="3255264"/>
            <a:ext cx="2926080" cy="31089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4809" y="32552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51593" y="32552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 power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" y="365760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mass averages the fast pulses into smooth, adjustable heating — 50% delivers roughly half the power of 100%.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68112" y="1664208"/>
            <a:ext cx="3108960" cy="2377440"/>
          </a:xfrm>
          <a:prstGeom prst="roundRect">
            <a:avLst>
              <a:gd name="adj" fmla="val 2308"/>
            </a:avLst>
          </a:prstGeom>
          <a:solidFill>
            <a:srgbClr val="0F1B33"/>
          </a:solidFill>
          <a:ln/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50992" y="1773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 the heater pin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50992" y="2139696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duty = controller_output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0–100 from the PI loop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A9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  = map(duty,0,100,0,255)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analogWrite(HEATER_PIN, pwm)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553712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6928" y="4553712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6384" y="4553712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PWM were slow enough that the pad fully heated and cooled within one on/off pulse, would this averaging approximation still hold?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Heating Pad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WE'RE CONTROLLING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170432"/>
            <a:ext cx="3749040" cy="3291840"/>
          </a:xfrm>
          <a:prstGeom prst="roundRect">
            <a:avLst>
              <a:gd name="adj" fmla="val 1667"/>
            </a:avLst>
          </a:prstGeom>
          <a:solidFill>
            <a:srgbClr val="F5F8FD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Orange silicone heating pad bonded to an aluminum plate, with red power lea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458" y="1280160"/>
            <a:ext cx="212598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133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Silicone heating pad bonded to an aluminum plate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0" y="1417320"/>
            <a:ext cx="4005072" cy="1005840"/>
          </a:xfrm>
          <a:prstGeom prst="roundRect">
            <a:avLst>
              <a:gd name="adj" fmla="val 5455"/>
            </a:avLst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1417320"/>
            <a:ext cx="4005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I</a:t>
            </a:r>
            <a:r>
              <a:rPr lang="en-US" sz="1400" b="1" baseline="3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²</a:t>
            </a:r>
            <a:r>
              <a:rPr lang="en-US" sz="2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0" y="248716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through the resistive element converts electrical power directly to heat.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3081528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300837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Resistive silicone element — </a:t>
            </a:r>
            <a:r>
              <a:rPr lang="en-US" sz="11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current heats it directly.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3593592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46320" y="352044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plate — </a:t>
            </a:r>
            <a:r>
              <a:rPr lang="en-US" sz="11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heat evenly and adds thermal mass.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0" y="4105656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46320" y="4032504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mass smooths PWM — </a:t>
            </a:r>
            <a:r>
              <a:rPr lang="en-US" sz="11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averages the duty-cycle pulses, so no visible temperature ripple.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Power Supply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SOURCES, VERY DIFFERENT CAPABILITY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170432"/>
            <a:ext cx="391363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1170432"/>
            <a:ext cx="3913632" cy="4572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" y="1399032"/>
            <a:ext cx="3913632" cy="2286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170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 POWER SUPPLY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1773936"/>
            <a:ext cx="1304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≤24 V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2231136"/>
            <a:ext cx="1304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71472" y="1773936"/>
            <a:ext cx="1304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≤3 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71472" y="2231136"/>
            <a:ext cx="1304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76016" y="1773936"/>
            <a:ext cx="1304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~72 W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76016" y="2231136"/>
            <a:ext cx="1304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POWER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" y="2615184"/>
            <a:ext cx="3657600" cy="7315"/>
          </a:xfrm>
          <a:prstGeom prst="rect">
            <a:avLst/>
          </a:prstGeom>
          <a:solidFill>
            <a:srgbClr val="D8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26883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Powers:  </a:t>
            </a:r>
            <a:r>
              <a:rPr lang="en-US" sz="10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heating pad, via the MOSFET switch. We run the heater circuit at 12 V.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170432"/>
            <a:ext cx="391363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170432"/>
            <a:ext cx="3913632" cy="4572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399032"/>
            <a:ext cx="3913632" cy="2286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9744" y="1170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ARDUINO USB 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1773936"/>
            <a:ext cx="1304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V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63440" y="2231136"/>
            <a:ext cx="1304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67984" y="1773936"/>
            <a:ext cx="1304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~500 mA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67984" y="2231136"/>
            <a:ext cx="1304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72528" y="1773936"/>
            <a:ext cx="1304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~2.5 W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72528" y="2231136"/>
            <a:ext cx="1304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POWER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9744" y="2615184"/>
            <a:ext cx="3657600" cy="7315"/>
          </a:xfrm>
          <a:prstGeom prst="rect">
            <a:avLst/>
          </a:prstGeom>
          <a:solidFill>
            <a:srgbClr val="D8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9744" y="26883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Powers:  </a:t>
            </a:r>
            <a:r>
              <a:rPr lang="en-US" sz="10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board and logic-level sensor amplifiers only.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3639312"/>
            <a:ext cx="8010144" cy="822960"/>
          </a:xfrm>
          <a:prstGeom prst="roundRect">
            <a:avLst>
              <a:gd name="adj" fmla="val 6667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6928" y="3639312"/>
            <a:ext cx="82296" cy="8229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363931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  </a:t>
            </a:r>
            <a:r>
              <a:rPr lang="en-US" sz="110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bench supply to 12 V and measure the Arduino's 5V pin. Confirm the two are electrically separate — grounds stay common, but power comes from two very different sources.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553712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FF3E9"/>
          </a:solidFill>
          <a:ln w="12700">
            <a:solidFill>
              <a:srgbClr val="FBD3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6928" y="4553712"/>
            <a:ext cx="8229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6384" y="4553712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r>
              <a:rPr lang="en-US" sz="1050" dirty="0">
                <a:solidFill>
                  <a:srgbClr val="7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powering the pad from the Arduino's 5V USB supply a bad idea, even at low duty cycle?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1089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80160" y="32918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Wiring Diagram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98448" y="7863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170432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blurRad="88900" dist="38100" dir="8100000" algn="bl" rotWithShape="0">
              <a:srgbClr val="22304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Fritzing wiring diagram: Arduino, MAX31856 and MAX31865 amplifiers, MOSFET module, 9V battery, and heating p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67" y="1280160"/>
            <a:ext cx="4899483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1225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CIRCUIT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64208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4652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Arduino Uno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46520" y="18288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PI loop; SPI on 13/11/12, CS on D4.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72200" y="2414016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46520" y="2322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amplifiers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46520" y="25786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MAX31856 (TC) &amp; MAX31865 (PT100) on the bus.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72200" y="3163824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46520" y="3072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MOSFET module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46520" y="332841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heater power from the PWM gate signal.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72200" y="3913632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46520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Heating pad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46520" y="40782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— driven by the external supply.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512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7498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847088"/>
            <a:ext cx="3785616" cy="932688"/>
          </a:xfrm>
          <a:prstGeom prst="roundRect">
            <a:avLst>
              <a:gd name="adj" fmla="val 5882"/>
            </a:avLst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847088"/>
            <a:ext cx="82296" cy="932688"/>
          </a:xfrm>
          <a:prstGeom prst="rect">
            <a:avLst/>
          </a:prstGeom>
          <a:solidFill>
            <a:srgbClr val="6FA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2416" y="194767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 loop, not open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2231136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lets the controller notice and correct drift; open loop can't.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91456" y="1847088"/>
            <a:ext cx="3785616" cy="932688"/>
          </a:xfrm>
          <a:prstGeom prst="roundRect">
            <a:avLst>
              <a:gd name="adj" fmla="val 5882"/>
            </a:avLst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91456" y="1847088"/>
            <a:ext cx="82296" cy="9326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94767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 is our controller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10912" y="2231136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for speed, I to erase offset — D is skipped on a slow, noisy thermal plant.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907792"/>
            <a:ext cx="3785616" cy="932688"/>
          </a:xfrm>
          <a:prstGeom prst="roundRect">
            <a:avLst>
              <a:gd name="adj" fmla="val 5882"/>
            </a:avLst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2907792"/>
            <a:ext cx="82296" cy="932688"/>
          </a:xfrm>
          <a:prstGeom prst="rect">
            <a:avLst/>
          </a:prstGeom>
          <a:solidFill>
            <a:srgbClr val="6FA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2416" y="300837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Tune by observation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3291840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Kp, then add Ki; watch overshoot, sluggishness, and growing oscillation.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91456" y="2907792"/>
            <a:ext cx="3785616" cy="932688"/>
          </a:xfrm>
          <a:prstGeom prst="roundRect">
            <a:avLst>
              <a:gd name="adj" fmla="val 5882"/>
            </a:avLst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91456" y="2907792"/>
            <a:ext cx="82296" cy="9326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10912" y="300837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Clamp the integral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10912" y="3291840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Anti-windup and a fixed Δt keep the software loop stable and consistent.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968496"/>
            <a:ext cx="3785616" cy="932688"/>
          </a:xfrm>
          <a:prstGeom prst="roundRect">
            <a:avLst>
              <a:gd name="adj" fmla="val 5882"/>
            </a:avLst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" y="3968496"/>
            <a:ext cx="82296" cy="932688"/>
          </a:xfrm>
          <a:prstGeom prst="rect">
            <a:avLst/>
          </a:prstGeom>
          <a:solidFill>
            <a:srgbClr val="6FA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2416" y="406908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the hardware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2416" y="4352544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sensors (TC / PT100), a MOSFET + PWM actuator, and a separate 12 V supply.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91456" y="3968496"/>
            <a:ext cx="3785616" cy="932688"/>
          </a:xfrm>
          <a:prstGeom prst="roundRect">
            <a:avLst>
              <a:gd name="adj" fmla="val 5882"/>
            </a:avLst>
          </a:prstGeom>
          <a:solidFill>
            <a:srgbClr val="1E2C49"/>
          </a:solidFill>
          <a:ln w="12700">
            <a:solidFill>
              <a:srgbClr val="2C3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91456" y="3968496"/>
            <a:ext cx="82296" cy="93268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10912" y="406908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two sensors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10912" y="4352544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loop against the thermocouple and the PT100 and contrast them.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C0E59E99AE2C4BADB72C1FA0683809" ma:contentTypeVersion="18" ma:contentTypeDescription="Create a new document." ma:contentTypeScope="" ma:versionID="ffb47aefe7fd81f182c2d65dd7aed20d">
  <xsd:schema xmlns:xsd="http://www.w3.org/2001/XMLSchema" xmlns:xs="http://www.w3.org/2001/XMLSchema" xmlns:p="http://schemas.microsoft.com/office/2006/metadata/properties" xmlns:ns3="8e3bef61-27f4-4a60-b2c5-7113298d803b" xmlns:ns4="4c42da83-a858-48ec-9806-d3a90fc976d5" targetNamespace="http://schemas.microsoft.com/office/2006/metadata/properties" ma:root="true" ma:fieldsID="752b726a510afe261fe01de1cdf06bbd" ns3:_="" ns4:_="">
    <xsd:import namespace="8e3bef61-27f4-4a60-b2c5-7113298d803b"/>
    <xsd:import namespace="4c42da83-a858-48ec-9806-d3a90fc976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SearchProperties" minOccurs="0"/>
                <xsd:element ref="ns3:MediaServiceBillingMetadata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bef61-27f4-4a60-b2c5-7113298d80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42da83-a858-48ec-9806-d3a90fc976d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3bef61-27f4-4a60-b2c5-7113298d803b" xsi:nil="true"/>
  </documentManagement>
</p:properties>
</file>

<file path=customXml/itemProps1.xml><?xml version="1.0" encoding="utf-8"?>
<ds:datastoreItem xmlns:ds="http://schemas.openxmlformats.org/officeDocument/2006/customXml" ds:itemID="{B4EA2177-E818-47B1-B1B5-0BDE1B9402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E7614E-498A-4444-8F9A-6A3E3AE1D7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3bef61-27f4-4a60-b2c5-7113298d803b"/>
    <ds:schemaRef ds:uri="4c42da83-a858-48ec-9806-d3a90fc976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D14499-BAA1-496D-84E8-39BF1B64ED00}">
  <ds:schemaRefs>
    <ds:schemaRef ds:uri="8e3bef61-27f4-4a60-b2c5-7113298d803b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c42da83-a858-48ec-9806-d3a90fc976d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4434</TotalTime>
  <Words>2186</Words>
  <Application>Microsoft Office PowerPoint</Application>
  <PresentationFormat>On-screen Show (16:9)</PresentationFormat>
  <Paragraphs>312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How can we achieve constant temperature in our system?</vt:lpstr>
      <vt:lpstr>Closed-Loop Temperature Control</vt:lpstr>
      <vt:lpstr>Open Loop vs. Closed Loop</vt:lpstr>
      <vt:lpstr>The PID Controller</vt:lpstr>
      <vt:lpstr>Choosing Between P, PI, PD, or PID</vt:lpstr>
      <vt:lpstr>Tuning PID Parameters: Simulation</vt:lpstr>
      <vt:lpstr>Our Project</vt:lpstr>
      <vt:lpstr>Choosing Between P, PI, PD, or PID</vt:lpstr>
      <vt:lpstr>Why This Matters for the Final Project</vt:lpstr>
      <vt:lpstr>Thermocouple vs. PT100 Sensors</vt:lpstr>
      <vt:lpstr>Implementing PID in Software</vt:lpstr>
      <vt:lpstr>SPI Communication</vt:lpstr>
      <vt:lpstr>Pins on the Sensor Transducers</vt:lpstr>
      <vt:lpstr>Controlling Power: MOSFET &amp; PWM</vt:lpstr>
      <vt:lpstr>The Heating Pad</vt:lpstr>
      <vt:lpstr>The Power Supply</vt:lpstr>
      <vt:lpstr>Full Wiring Diagram</vt:lpstr>
      <vt:lpstr>Key Takeaways</vt:lpstr>
    </vt:vector>
  </TitlesOfParts>
  <Company>Weizmann Institute of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Lior Segev</dc:creator>
  <cp:lastModifiedBy>Lior Segev</cp:lastModifiedBy>
  <cp:revision>6</cp:revision>
  <dcterms:created xsi:type="dcterms:W3CDTF">2026-07-06T10:31:32Z</dcterms:created>
  <dcterms:modified xsi:type="dcterms:W3CDTF">2026-07-09T12:44:01Z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0x01010078C0E59E99AE2C4BADB72C1FA0683809</vt:lpwstr>
  </property>
</Properties>
</file>